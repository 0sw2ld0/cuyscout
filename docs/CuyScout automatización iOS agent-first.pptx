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Encuadre: esto es una medición real de tokens, con proxy y tokenizador, no una promesa de marketing. El objetivo de la charla es mostrar que la ventaja es estructural (viene de la arquitectura) y no un truco de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que los agentes razonen mal; es que la infraestructura que les damos les hace pagar de más por cada mirada a la pantalla. Esa es la tesis de toda la charla.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de credibilidad: no son estimaciones, son bytes reales capturados por un proxy y convertidos a tokens con el mismo tokenizador para las dos herramientas.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arquitectura. El punto clave: cada salto entre procesos en Appium es una serialización más; CuyScout se lo ahorra al compartir memoria entre servidor y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árbol completo obliga al agente a decidir qué es ruido. CuyScout decide eso en el servidor, una sola vez, para todos los agentes que lo usen.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caída de 16 603 a 3 946 tokens es un arreglo interno de CuyScout, previo a comparar contra Appium. Las barras punteadas son el estado "antes"; las sólidas, el estado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barras, tres modelos, dos herramientas. La proporción entre CuyScout y Appium se mantiene aunque el color cambie de modelo a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ventaja desapareciera con Sonnet o creciera solo con Opus, sería sospechoso — un artefacto del modelo, no de la arquitectura. No es 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argumento de que la ventaja no es un truco de una sola corrida: se sostiene incluso cuando el entregable cambia de "ejecutar" a "dejar algo reutilizable".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que hace que esto funcione: grabar no es una acción que el agente tiene que acordarse de pedir. Es el comportamiento por defecto desde que se crea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honestidad metodológica es lo que hace que estos números sean útiles en una decisión real, no solo en una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de roadmap: qué haría falta para que esta medición fuera aún más difícil de discutir.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Si algo se queda de esta charla, que sea esta frase. Espacio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253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MEDICIÓN · SEDAPAL / CUY WALLET · SEP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71651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spc="-100" kern="0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3846810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3D0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Automatización iOS para agentes de IA, sobre una app de la que no tienen el código fuente.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136680"/>
            <a:ext cx="57452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5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Comparado contra Appium 3.2.2 · Opus 5 · Sonnet 5 · Haiku 4.5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agente que no puede leer el código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64965"/>
            <a:ext cx="3380284" cy="1421011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96740"/>
            <a:ext cx="30042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56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código fuente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2414240"/>
            <a:ext cx="30042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el instalador (.ipa) y un escenario. Nada de inspeccionar el proyecto para encontrar el atajo.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809" y="1864965"/>
            <a:ext cx="3380333" cy="1421011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584" y="2096740"/>
            <a:ext cx="30042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56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screenshots son carísimos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7584" y="2414240"/>
            <a:ext cx="300428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 75 000 y 400 000 tokens cada uno. Más que un escenario entero, por cualquiera de los dos caminos.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692" y="1864965"/>
            <a:ext cx="3380333" cy="1421011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467" y="2096740"/>
            <a:ext cx="30042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56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lectura de pantalla cuesta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7467" y="2414240"/>
            <a:ext cx="300428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"Ver qué hay en pantalla" no es gratis: es una llamada HTTP real, con un tamaño real de respuesta.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593951"/>
            <a:ext cx="91567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A8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coste de automatizar no depende del modelo. Depende de cuánto hay que transportar en cada vuelta del bucle.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MIDIÓ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montaje, un proxy idéntico delante de cada servidor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58020"/>
          <a:ext cx="10566400" cy="2682180"/>
        </p:xfrm>
        <a:graphic>
          <a:graphicData uri="http://schemas.openxmlformats.org/drawingml/2006/table">
            <a:tbl>
              <a:tblPr/>
              <a:tblGrid>
                <a:gridCol w="3592576"/>
                <a:gridCol w="3486912"/>
                <a:gridCol w="3486912"/>
              </a:tblGrid>
              <a:tr h="4470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9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Montaje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Appium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CuyScout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</a:tr>
              <a:tr h="4470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Simulador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iPhone 16 Pro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iPhone 17 Pro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470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Servidor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Appium 3.2.2 · XCUITest 10.32.0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CuyScout 0.1.0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 e instalador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CuyWallet.ipa (idéntico)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CuyWallet.ipa (idéntico)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470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Código fuente, screenshots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prohibidos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prohibidos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Precalentamiento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WebDriverAgent, fuera de la medición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XCTest runner, fuera de la medición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206901"/>
            <a:ext cx="98107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tokens son reales, contados con </a:t>
            </a:r>
            <a:r>
              <a:rPr lang="en-US" sz="13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cl100k_base</a:t>
            </a:r>
            <a:r>
              <a:rPr lang="en-US" sz="13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sobre el texto que viajaría en la conversación de un agente — no dependen de que el agente se autoreporte.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50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cadenas de procesos para el mismo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2442170"/>
            <a:ext cx="4813300" cy="1422400"/>
          </a:xfrm>
          <a:prstGeom prst="roundRect">
            <a:avLst>
              <a:gd name="adj" fmla="val 6696"/>
            </a:avLst>
          </a:prstGeom>
          <a:noFill/>
          <a:ln w="12700">
            <a:solidFill>
              <a:srgbClr val="C0562A">
                <a:alpha val="3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534150" y="2442170"/>
            <a:ext cx="4838700" cy="1422400"/>
          </a:xfrm>
          <a:prstGeom prst="roundRect">
            <a:avLst>
              <a:gd name="adj" fmla="val 6696"/>
            </a:avLst>
          </a:prstGeom>
          <a:noFill/>
          <a:ln w="12700">
            <a:solidFill>
              <a:srgbClr val="0A8F86">
                <a:alpha val="3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73150" y="1426170"/>
            <a:ext cx="10045700" cy="482600"/>
          </a:xfrm>
          <a:prstGeom prst="roundRect">
            <a:avLst>
              <a:gd name="adj" fmla="val 14474"/>
            </a:avLst>
          </a:prstGeom>
          <a:solidFill>
            <a:srgbClr val="FFFFFF"/>
          </a:solidFill>
          <a:ln w="12700">
            <a:solidFill>
              <a:srgbClr val="1019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7738" y="1488430"/>
            <a:ext cx="112732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(LLM)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86300" y="1709390"/>
            <a:ext cx="290393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la siguiente acción; nunca ve el código de la app</a:t>
            </a:r>
            <a:endParaRPr lang="en-US" sz="900" dirty="0"/>
          </a:p>
        </p:txBody>
      </p:sp>
      <p:pic>
        <p:nvPicPr>
          <p:cNvPr id="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5000" y="1864320"/>
            <a:ext cx="101600" cy="622300"/>
          </a:xfrm>
          <a:prstGeom prst="rect">
            <a:avLst/>
          </a:prstGeom>
        </p:spPr>
      </p:pic>
      <p:pic>
        <p:nvPicPr>
          <p:cNvPr id="1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02700" y="1864320"/>
            <a:ext cx="101600" cy="622300"/>
          </a:xfrm>
          <a:prstGeom prst="rect">
            <a:avLst/>
          </a:prstGeom>
        </p:spPr>
      </p:pic>
      <p:pic>
        <p:nvPicPr>
          <p:cNvPr id="1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82200" y="1877020"/>
            <a:ext cx="76200" cy="596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8030" y="202942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 · WebDriver JSON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463030" y="2029420"/>
            <a:ext cx="22237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 W3C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47300" y="2245320"/>
            <a:ext cx="1244600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ó MCP stdio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819150" y="2442170"/>
            <a:ext cx="4813300" cy="558800"/>
          </a:xfrm>
          <a:prstGeom prst="roundRect">
            <a:avLst>
              <a:gd name="adj" fmla="val 12500"/>
            </a:avLst>
          </a:prstGeom>
          <a:solidFill>
            <a:srgbClr val="FBEDE4"/>
          </a:solidFill>
          <a:ln w="12700">
            <a:solidFill>
              <a:srgbClr val="C0562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03300" y="2524720"/>
            <a:ext cx="457835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477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Server</a:t>
            </a:r>
            <a:endParaRPr lang="en-US" sz="1477" dirty="0"/>
          </a:p>
        </p:txBody>
      </p:sp>
      <p:sp>
        <p:nvSpPr>
          <p:cNvPr id="17" name="Text 12"/>
          <p:cNvSpPr/>
          <p:nvPr/>
        </p:nvSpPr>
        <p:spPr>
          <a:xfrm>
            <a:off x="1003300" y="2768699"/>
            <a:ext cx="4578350" cy="1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Node.js · protocolo WebDriver JSON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534150" y="2442170"/>
            <a:ext cx="4838700" cy="558800"/>
          </a:xfrm>
          <a:prstGeom prst="roundRect">
            <a:avLst>
              <a:gd name="adj" fmla="val 12500"/>
            </a:avLst>
          </a:prstGeom>
          <a:solidFill>
            <a:srgbClr val="E4F2F0"/>
          </a:solidFill>
          <a:ln w="12700">
            <a:solidFill>
              <a:srgbClr val="0A8F8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18300" y="2524720"/>
            <a:ext cx="460451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477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Server</a:t>
            </a:r>
            <a:endParaRPr lang="en-US" sz="1477" dirty="0"/>
          </a:p>
        </p:txBody>
      </p:sp>
      <p:sp>
        <p:nvSpPr>
          <p:cNvPr id="20" name="Text 15"/>
          <p:cNvSpPr/>
          <p:nvPr/>
        </p:nvSpPr>
        <p:spPr>
          <a:xfrm>
            <a:off x="6718300" y="2768699"/>
            <a:ext cx="4604512" cy="1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binario Swift único · HTTP W3C + MCP</a:t>
            </a:r>
            <a:endParaRPr lang="en-US" sz="1000" dirty="0"/>
          </a:p>
        </p:txBody>
      </p:sp>
      <p:pic>
        <p:nvPicPr>
          <p:cNvPr id="2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75000" y="2956520"/>
            <a:ext cx="101600" cy="393700"/>
          </a:xfrm>
          <a:prstGeom prst="rect">
            <a:avLst/>
          </a:prstGeom>
        </p:spPr>
      </p:pic>
      <p:pic>
        <p:nvPicPr>
          <p:cNvPr id="2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02700" y="2956520"/>
            <a:ext cx="101600" cy="3937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79800" y="3083520"/>
            <a:ext cx="19621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XCUITest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527800" y="3083520"/>
            <a:ext cx="235458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XCTest/XCUITest embebido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19150" y="3305770"/>
            <a:ext cx="4813300" cy="55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0562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003300" y="3388320"/>
            <a:ext cx="457835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477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WebDriverAgent</a:t>
            </a:r>
            <a:endParaRPr lang="en-US" sz="1477" dirty="0"/>
          </a:p>
        </p:txBody>
      </p:sp>
      <p:sp>
        <p:nvSpPr>
          <p:cNvPr id="27" name="Text 20"/>
          <p:cNvSpPr/>
          <p:nvPr/>
        </p:nvSpPr>
        <p:spPr>
          <a:xfrm>
            <a:off x="1003300" y="3632299"/>
            <a:ext cx="4578350" cy="1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proceso XCTest aparte, con su propia HTTP interna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534150" y="3305770"/>
            <a:ext cx="4838700" cy="55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A8F86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718300" y="3388320"/>
            <a:ext cx="460451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477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ScoutEngine</a:t>
            </a:r>
            <a:endParaRPr lang="en-US" sz="1477" dirty="0"/>
          </a:p>
        </p:txBody>
      </p:sp>
      <p:sp>
        <p:nvSpPr>
          <p:cNvPr id="30" name="Text 23"/>
          <p:cNvSpPr/>
          <p:nvPr/>
        </p:nvSpPr>
        <p:spPr>
          <a:xfrm>
            <a:off x="6718300" y="3632299"/>
            <a:ext cx="4604512" cy="1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proceso que el servidor, sin salto de red</a:t>
            </a:r>
            <a:endParaRPr lang="en-US" sz="1000" dirty="0"/>
          </a:p>
        </p:txBody>
      </p:sp>
      <p:pic>
        <p:nvPicPr>
          <p:cNvPr id="31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75000" y="3820120"/>
            <a:ext cx="101600" cy="381000"/>
          </a:xfrm>
          <a:prstGeom prst="rect">
            <a:avLst/>
          </a:prstGeom>
        </p:spPr>
      </p:pic>
      <p:pic>
        <p:nvPicPr>
          <p:cNvPr id="32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02700" y="3820120"/>
            <a:ext cx="101600" cy="3810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12800" y="4150320"/>
            <a:ext cx="10566400" cy="571500"/>
          </a:xfrm>
          <a:prstGeom prst="roundRect">
            <a:avLst>
              <a:gd name="adj" fmla="val 13333"/>
            </a:avLst>
          </a:prstGeom>
          <a:solidFill>
            <a:srgbClr val="101917"/>
          </a:solidFill>
          <a:ln/>
        </p:spPr>
      </p:sp>
      <p:sp>
        <p:nvSpPr>
          <p:cNvPr id="34" name="Text 25"/>
          <p:cNvSpPr/>
          <p:nvPr/>
        </p:nvSpPr>
        <p:spPr>
          <a:xfrm>
            <a:off x="5107186" y="4236045"/>
            <a:ext cx="203695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iOS Simulator / Device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4292749" y="4483695"/>
            <a:ext cx="371464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4A5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app bajo prueba — sin código fuente, sin capturas de pantalla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812800" y="4899620"/>
            <a:ext cx="10464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levanta </a:t>
            </a:r>
            <a:r>
              <a:rPr lang="en-US" sz="12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procesos</a:t>
            </a: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el servidor y WebDriverAgent, con su propia HTTP interna — y habla WebDriver JSON. CuyScout es </a:t>
            </a:r>
            <a:r>
              <a:rPr lang="en-US" sz="12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binario único</a:t>
            </a: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el servidor y el motor comparten proceso, y ese mismo proceso también habla MCP por </a:t>
            </a:r>
            <a:r>
              <a:rPr lang="en-US" sz="1200" i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stdio</a:t>
            </a: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DIFERENCIA QUE IMPORTA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transporta una lectura de pantalla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97620"/>
            <a:ext cx="5181600" cy="3046611"/>
          </a:xfrm>
          <a:prstGeom prst="roundRect">
            <a:avLst>
              <a:gd name="adj" fmla="val 3335"/>
            </a:avLst>
          </a:prstGeom>
          <a:solidFill>
            <a:srgbClr val="FBEDE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16670"/>
            <a:ext cx="5181600" cy="0"/>
          </a:xfrm>
          <a:prstGeom prst="line">
            <a:avLst/>
          </a:prstGeom>
          <a:noFill/>
          <a:ln w="38100">
            <a:solidFill>
              <a:srgbClr val="C05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838920"/>
            <a:ext cx="491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APPIUM · GET /SESSION/ID/SOURCE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6000" y="2105620"/>
            <a:ext cx="4775200" cy="1431230"/>
          </a:xfrm>
          <a:prstGeom prst="roundRect">
            <a:avLst>
              <a:gd name="adj" fmla="val 443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8400" y="2258020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&lt;XCUIElementTypeStaticText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8400" y="2447875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name="arrow.left.arrow.right.circle.fill"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8400" y="2637730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x="24" y="118" width="28" height="28" /&gt;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8400" y="2827586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&lt;XCUIElementTypeStaticText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8400" y="3017441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value="N° Operación: SP860351" /&gt;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8400" y="3207296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5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 cientos de contenedores más 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6000" y="3625751"/>
            <a:ext cx="49184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056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2 043 tokens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6000" y="4049911"/>
            <a:ext cx="491845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leer el comprobante una vez. Geometría y contenedores que el agente no puede accionar.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7600" y="1597620"/>
            <a:ext cx="5181600" cy="3046611"/>
          </a:xfrm>
          <a:prstGeom prst="roundRect">
            <a:avLst>
              <a:gd name="adj" fmla="val 3335"/>
            </a:avLst>
          </a:prstGeom>
          <a:solidFill>
            <a:srgbClr val="E4F2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616670"/>
            <a:ext cx="5181600" cy="0"/>
          </a:xfrm>
          <a:prstGeom prst="line">
            <a:avLst/>
          </a:prstGeom>
          <a:noFill/>
          <a:ln w="38100">
            <a:solidFill>
              <a:srgbClr val="0A8F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38920"/>
            <a:ext cx="491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CUYSCOUT · GET /SESSION/ID/OBSERVE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105620"/>
            <a:ext cx="4775200" cy="1241375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53200" y="2258020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54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"actions": [{ "id": "btn_service_pay",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53200" y="2447875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54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"role": "button", "label": "Pagar" }],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53200" y="2637730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54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"texts": [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53200" y="2827586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54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"label_service_result_operation: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53200" y="3017441"/>
            <a:ext cx="4604512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54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N° Operación: SP860351" ] 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435896"/>
            <a:ext cx="49184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A8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284 tokens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0" y="3860056"/>
            <a:ext cx="491845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la misma lectura. Labels de iconos ya filtrados; actions es para actuar, texts para verificar.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PRIMERO, UN PROBLEMA PROPIO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5,3× no era suficiente: el problema estaba en CuyScout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6876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8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· después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70200" y="1648420"/>
            <a:ext cx="342900" cy="254000"/>
          </a:xfrm>
          <a:prstGeom prst="roundRect">
            <a:avLst>
              <a:gd name="adj" fmla="val 20000"/>
            </a:avLst>
          </a:prstGeom>
          <a:solidFill>
            <a:srgbClr val="0A8F86"/>
          </a:solidFill>
          <a:ln/>
        </p:spPr>
      </p:sp>
      <p:sp>
        <p:nvSpPr>
          <p:cNvPr id="6" name="Text 4"/>
          <p:cNvSpPr/>
          <p:nvPr/>
        </p:nvSpPr>
        <p:spPr>
          <a:xfrm>
            <a:off x="3365500" y="1659830"/>
            <a:ext cx="546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3 946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10056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· 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6550" y="2086570"/>
            <a:ext cx="1428750" cy="241300"/>
          </a:xfrm>
          <a:prstGeom prst="roundRect">
            <a:avLst>
              <a:gd name="adj" fmla="val 18421"/>
            </a:avLst>
          </a:prstGeom>
          <a:solidFill>
            <a:srgbClr val="F7F9F8"/>
          </a:solidFill>
          <a:ln w="12700">
            <a:solidFill>
              <a:srgbClr val="5A6B67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464050" y="2091630"/>
            <a:ext cx="6451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16 603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253236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6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· corrida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70200" y="2512020"/>
            <a:ext cx="5689600" cy="254000"/>
          </a:xfrm>
          <a:prstGeom prst="roundRect">
            <a:avLst>
              <a:gd name="adj" fmla="val 20000"/>
            </a:avLst>
          </a:prstGeom>
          <a:solidFill>
            <a:srgbClr val="C05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712200" y="2523430"/>
            <a:ext cx="6451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65 476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296416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· corrida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76550" y="2950170"/>
            <a:ext cx="7607300" cy="241300"/>
          </a:xfrm>
          <a:prstGeom prst="roundRect">
            <a:avLst>
              <a:gd name="adj" fmla="val 18421"/>
            </a:avLst>
          </a:prstGeom>
          <a:solidFill>
            <a:srgbClr val="F7F9F8"/>
          </a:solidFill>
          <a:ln w="12700">
            <a:solidFill>
              <a:srgbClr val="5A6B6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642600" y="2955230"/>
            <a:ext cx="6451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B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87 722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477220"/>
            <a:ext cx="10464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agente pedía el árbol de accesibilidad completo cinco veces por sesión — </a:t>
            </a:r>
            <a:r>
              <a:rPr lang="en-US" sz="1200" b="1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porque la guía se lo indicaba</a:t>
            </a:r>
            <a:r>
              <a:rPr lang="en-US" sz="12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El arreglo no fue solo código: </a:t>
            </a:r>
            <a:r>
              <a:rPr lang="en-US" sz="1200" b="1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</a:t>
            </a:r>
            <a:r>
              <a:rPr lang="en-US" sz="12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pasó a devolver los textos, y la documentación pasó a decir cuál es la lectura barata.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RESULTADO, POR MODELO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017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 10× y 20×, sea cual sea el modelo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06190"/>
            <a:ext cx="19621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· Opus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70200" y="1496020"/>
            <a:ext cx="215900" cy="215900"/>
          </a:xfrm>
          <a:prstGeom prst="roundRect">
            <a:avLst>
              <a:gd name="adj" fmla="val 17647"/>
            </a:avLst>
          </a:prstGeom>
          <a:solidFill>
            <a:srgbClr val="0A8F86"/>
          </a:solidFill>
          <a:ln/>
        </p:spPr>
      </p:sp>
      <p:sp>
        <p:nvSpPr>
          <p:cNvPr id="6" name="Text 4"/>
          <p:cNvSpPr/>
          <p:nvPr/>
        </p:nvSpPr>
        <p:spPr>
          <a:xfrm>
            <a:off x="3238500" y="1497310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9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3 946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1836390"/>
            <a:ext cx="19621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· Sonnet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70200" y="1826220"/>
            <a:ext cx="203200" cy="215900"/>
          </a:xfrm>
          <a:prstGeom prst="roundRect">
            <a:avLst>
              <a:gd name="adj" fmla="val 18750"/>
            </a:avLst>
          </a:prstGeom>
          <a:solidFill>
            <a:srgbClr val="5B6FC7"/>
          </a:solidFill>
          <a:ln/>
        </p:spPr>
      </p:sp>
      <p:sp>
        <p:nvSpPr>
          <p:cNvPr id="9" name="Text 7"/>
          <p:cNvSpPr/>
          <p:nvPr/>
        </p:nvSpPr>
        <p:spPr>
          <a:xfrm>
            <a:off x="3225800" y="1827510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9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3 689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166590"/>
            <a:ext cx="19621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· Haiku 4.5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0200" y="2156420"/>
            <a:ext cx="679450" cy="215900"/>
          </a:xfrm>
          <a:prstGeom prst="roundRect">
            <a:avLst>
              <a:gd name="adj" fmla="val 17647"/>
            </a:avLst>
          </a:prstGeom>
          <a:solidFill>
            <a:srgbClr val="B87A4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2050" y="2157710"/>
            <a:ext cx="599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9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12 551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496790"/>
            <a:ext cx="19621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· Opus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70200" y="2486620"/>
            <a:ext cx="3556000" cy="215900"/>
          </a:xfrm>
          <a:prstGeom prst="roundRect">
            <a:avLst>
              <a:gd name="adj" fmla="val 17647"/>
            </a:avLst>
          </a:prstGeom>
          <a:solidFill>
            <a:srgbClr val="C0562A"/>
          </a:solidFill>
          <a:ln/>
        </p:spPr>
      </p:sp>
      <p:sp>
        <p:nvSpPr>
          <p:cNvPr id="15" name="Text 13"/>
          <p:cNvSpPr/>
          <p:nvPr/>
        </p:nvSpPr>
        <p:spPr>
          <a:xfrm>
            <a:off x="6578600" y="2487910"/>
            <a:ext cx="599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9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65 476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2826990"/>
            <a:ext cx="19621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· Sonnet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70200" y="2816820"/>
            <a:ext cx="3917950" cy="215900"/>
          </a:xfrm>
          <a:prstGeom prst="roundRect">
            <a:avLst>
              <a:gd name="adj" fmla="val 17647"/>
            </a:avLst>
          </a:prstGeom>
          <a:solidFill>
            <a:srgbClr val="5B6FC7"/>
          </a:solidFill>
          <a:ln/>
        </p:spPr>
      </p:sp>
      <p:sp>
        <p:nvSpPr>
          <p:cNvPr id="18" name="Text 16"/>
          <p:cNvSpPr/>
          <p:nvPr/>
        </p:nvSpPr>
        <p:spPr>
          <a:xfrm>
            <a:off x="6940550" y="2818110"/>
            <a:ext cx="599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9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72 199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157190"/>
            <a:ext cx="19621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Appium · Haiku 4.5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70200" y="3147020"/>
            <a:ext cx="6985000" cy="215900"/>
          </a:xfrm>
          <a:prstGeom prst="roundRect">
            <a:avLst>
              <a:gd name="adj" fmla="val 17647"/>
            </a:avLst>
          </a:prstGeom>
          <a:solidFill>
            <a:srgbClr val="B87A4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7600" y="3148310"/>
            <a:ext cx="6909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9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128 648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356612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 lineal, 0 → 128 648 tokens. Mismo escenario, mismo montaje — solo cambia qué modelo decide los pasos.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¿DEPENDE DEL MODELO?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ventaja es del protocolo, no del modelo que lo opera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73820"/>
            <a:ext cx="3386634" cy="1572220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92870"/>
            <a:ext cx="3386634" cy="0"/>
          </a:xfrm>
          <a:prstGeom prst="line">
            <a:avLst/>
          </a:prstGeom>
          <a:noFill/>
          <a:ln w="38100">
            <a:solidFill>
              <a:srgbClr val="0A8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800" y="1965920"/>
            <a:ext cx="29649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OPUS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6800" y="2224980"/>
            <a:ext cx="29649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A8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16,6×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66800" y="2796480"/>
            <a:ext cx="296499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3 946 vs 65 476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2634" y="1673820"/>
            <a:ext cx="3386683" cy="1572220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34" y="1692870"/>
            <a:ext cx="3386683" cy="0"/>
          </a:xfrm>
          <a:prstGeom prst="line">
            <a:avLst/>
          </a:prstGeom>
          <a:noFill/>
          <a:ln w="38100">
            <a:solidFill>
              <a:srgbClr val="5B6F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6634" y="1965920"/>
            <a:ext cx="29650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SONNET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56634" y="2224980"/>
            <a:ext cx="29650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5B6FC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19,6×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56634" y="2796480"/>
            <a:ext cx="29650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3 689 vs 72 199 tokens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92517" y="1673820"/>
            <a:ext cx="3386683" cy="1572220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17" y="1692870"/>
            <a:ext cx="3386683" cy="0"/>
          </a:xfrm>
          <a:prstGeom prst="line">
            <a:avLst/>
          </a:prstGeom>
          <a:noFill/>
          <a:ln w="38100">
            <a:solidFill>
              <a:srgbClr val="B87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6517" y="1965920"/>
            <a:ext cx="29650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HAIKU 4.5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46517" y="2224980"/>
            <a:ext cx="29650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B87A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10,2×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46517" y="2796480"/>
            <a:ext cx="29650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12 551 vs 128 648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800" y="3550841"/>
            <a:ext cx="104648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CuyScout varía un 7 % entre modelos; Appium, un 8 %. Haiku es más caro en </a:t>
            </a:r>
            <a:r>
              <a:rPr lang="en-US" sz="1300" b="1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 absoluto</a:t>
            </a: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 ambas herramientas —razona de forma más iterativa—, pero eso afecta a los dos por igual: la ventaja estructural de CuyScout no depende de qué modelo decide los pasos.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SEGUNDA MEDICIÓN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¿Cuánto cuesta terminar con una prueba ejecutable?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3020"/>
            <a:ext cx="1079182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primera medición respondía "¿cuánto cuesta ejecutar el escenario?". Esta responde otra cosa: </a:t>
            </a:r>
            <a:r>
              <a:rPr lang="en-US" sz="1300" b="1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cuánto cuesta dejar, además, un archivo .ts reproducible</a:t>
            </a: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 selectores semánticos y cero coordenadas.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72320"/>
          <a:ext cx="10566400" cy="1470571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  <a:gridCol w="2641600"/>
              </a:tblGrid>
              <a:tr h="4901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9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CuyScout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Appium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9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Ventaja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F0"/>
                    </a:solidFill>
                  </a:tcPr>
                </a:tc>
              </a:tr>
              <a:tr h="4901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Opus 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5 354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92 478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A8F8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17,3×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01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Sonnet 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4 999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5444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99 798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A8F8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20,0×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114300" marB="114300" anchor="t">
                    <a:lnL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109591"/>
            <a:ext cx="107918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sesión de CuyScout ya venía grabada: exportar el </a:t>
            </a:r>
            <a:r>
              <a:rPr lang="en-US" sz="1200" b="1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.ts</a:t>
            </a:r>
            <a:r>
              <a:rPr lang="en-US" sz="120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costó ~900 tokens en dos llamadas. En Appium, el agente escribió el archivo entero a mano — ese coste no aparece en el cable, aparece en tokens de salida del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94A5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CICLO DE VIDA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grabación empieza con la sesión, no cuando alguien se acuerda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2122091"/>
            <a:ext cx="1765300" cy="622300"/>
          </a:xfrm>
          <a:prstGeom prst="roundRect">
            <a:avLst>
              <a:gd name="adj" fmla="val 11224"/>
            </a:avLst>
          </a:prstGeom>
          <a:solidFill>
            <a:srgbClr val="18211F"/>
          </a:solidFill>
          <a:ln w="12700">
            <a:solidFill>
              <a:srgbClr val="26A7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0830" y="2263676"/>
            <a:ext cx="172740" cy="16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10729" y="2444006"/>
            <a:ext cx="782141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Crear sesión</a:t>
            </a:r>
            <a:endParaRPr lang="en-US" sz="10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382441"/>
            <a:ext cx="5207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6250" y="2122091"/>
            <a:ext cx="1765300" cy="622300"/>
          </a:xfrm>
          <a:prstGeom prst="roundRect">
            <a:avLst>
              <a:gd name="adj" fmla="val 11224"/>
            </a:avLst>
          </a:prstGeom>
          <a:solidFill>
            <a:srgbClr val="18211F"/>
          </a:solidFill>
          <a:ln w="12700">
            <a:solidFill>
              <a:srgbClr val="26A7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37930" y="2191941"/>
            <a:ext cx="172740" cy="162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060700" y="2367558"/>
            <a:ext cx="1676400" cy="332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69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Empieza a grabar — automático</a:t>
            </a:r>
            <a:endParaRPr lang="en-US" sz="969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7100" y="2382441"/>
            <a:ext cx="520700" cy="10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13350" y="2122091"/>
            <a:ext cx="1765300" cy="622300"/>
          </a:xfrm>
          <a:prstGeom prst="roundRect">
            <a:avLst>
              <a:gd name="adj" fmla="val 11224"/>
            </a:avLst>
          </a:prstGeom>
          <a:solidFill>
            <a:srgbClr val="18211F"/>
          </a:solidFill>
          <a:ln w="12700">
            <a:solidFill>
              <a:srgbClr val="26A79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35030" y="2263676"/>
            <a:ext cx="172740" cy="16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326707" y="2444006"/>
            <a:ext cx="1538585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Bucle: observar → actuar</a:t>
            </a:r>
            <a:endParaRPr lang="en-US" sz="10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34200" y="2382441"/>
            <a:ext cx="520700" cy="10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10450" y="2122091"/>
            <a:ext cx="1765300" cy="622300"/>
          </a:xfrm>
          <a:prstGeom prst="roundRect">
            <a:avLst>
              <a:gd name="adj" fmla="val 11224"/>
            </a:avLst>
          </a:prstGeom>
          <a:solidFill>
            <a:srgbClr val="18211F"/>
          </a:solidFill>
          <a:ln w="12700">
            <a:solidFill>
              <a:srgbClr val="26A79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32130" y="2263676"/>
            <a:ext cx="172740" cy="16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630319" y="2444006"/>
            <a:ext cx="1325513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Exportar la prueba .ts</a:t>
            </a:r>
            <a:endParaRPr lang="en-US" sz="1000" dirty="0"/>
          </a:p>
        </p:txBody>
      </p:sp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31300" y="2382441"/>
            <a:ext cx="520700" cy="101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07550" y="2122091"/>
            <a:ext cx="1765300" cy="622300"/>
          </a:xfrm>
          <a:prstGeom prst="roundRect">
            <a:avLst>
              <a:gd name="adj" fmla="val 11224"/>
            </a:avLst>
          </a:prstGeom>
          <a:solidFill>
            <a:srgbClr val="18211F"/>
          </a:solidFill>
          <a:ln w="12700">
            <a:solidFill>
              <a:srgbClr val="26A79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429230" y="2263676"/>
            <a:ext cx="172740" cy="16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9743331" y="2444006"/>
            <a:ext cx="149373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Cerrar sesión → persiste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12800" y="3233341"/>
            <a:ext cx="1079182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D0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Appium no hay equivalente: si el agente decide dejar una prueba, la escribe él, a mano, observando lo que hizo. En CuyScout, </a:t>
            </a:r>
            <a:r>
              <a:rPr lang="en-US" sz="1300" b="1" dirty="0">
                <a:solidFill>
                  <a:srgbClr val="C3D0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recording/appium/typescript</a:t>
            </a:r>
            <a:r>
              <a:rPr lang="en-US" sz="1300" dirty="0">
                <a:solidFill>
                  <a:srgbClr val="C3D0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devuelve el helper, las capabilities y los pasos ya grabados por ~900 tokens.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SALVEDADES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leer estos números con honestidad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302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46200" y="1623020"/>
            <a:ext cx="103339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o dos corridas por celda: las tres corridas de Appium con el mismo prompt dieron 87 722, 65 476 y 72 199 — una dispersión real de ~25 %. Léase como </a:t>
            </a:r>
            <a:r>
              <a:rPr lang="en-US" sz="1300" b="1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 orden de 10–20×</a:t>
            </a: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 como cifra exacta.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27072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46200" y="2270720"/>
            <a:ext cx="103339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arreglo cambió código y documentación a la vez: no se puede atribuir la mejora a uno solo. La capacidad sin la instrucción no se usa; la instrucción sin la capacidad manda a hacer algo imposible.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91842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6200" y="2918420"/>
            <a:ext cx="103339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agentes eligieron importes distintos en cada corrida porque el escenario no fijaba ninguno. No afecta al coste en tokens, pero los comprobantes no son idénticos entre sí.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56612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46200" y="3566120"/>
            <a:ext cx="103339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defensa por shell de Appium reduce mucho su contexto real, pero solo existe con acceso a tuberías: un cliente que hable solo por MCP no puede filtrar el árbol antes de leerlo.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50" kern="0" dirty="0">
                <a:solidFill>
                  <a:srgbClr val="5A6B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SIGUE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77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formas de estresar más la medición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73820"/>
            <a:ext cx="3386634" cy="1882031"/>
          </a:xfrm>
          <a:prstGeom prst="roundRect">
            <a:avLst>
              <a:gd name="adj" fmla="val 5398"/>
            </a:avLst>
          </a:prstGeom>
          <a:solidFill>
            <a:srgbClr val="F7F9F8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02420"/>
            <a:ext cx="301731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1400" y="2199580"/>
            <a:ext cx="301731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Poner techo a los screenshots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2545011"/>
            <a:ext cx="3017317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Ninguno se pidió porque estaba prohibido. Uno solo cuesta 75 000–400 000 tokens: más que el escenario entero.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2634" y="1673820"/>
            <a:ext cx="3386683" cy="1882031"/>
          </a:xfrm>
          <a:prstGeom prst="roundRect">
            <a:avLst>
              <a:gd name="adj" fmla="val 5398"/>
            </a:avLst>
          </a:prstGeom>
          <a:solidFill>
            <a:srgbClr val="F7F9F8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1902420"/>
            <a:ext cx="30173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31234" y="2199580"/>
            <a:ext cx="301736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Repetir la medición sin shell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1234" y="2545011"/>
            <a:ext cx="3017368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MCP en vez de curl, la defensa por tuberías desaparece — el contexto de Appium debería acercarse a lo que ya viaja por el cable.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92517" y="1673820"/>
            <a:ext cx="3386683" cy="1882031"/>
          </a:xfrm>
          <a:prstGeom prst="roundRect">
            <a:avLst>
              <a:gd name="adj" fmla="val 5398"/>
            </a:avLst>
          </a:prstGeom>
          <a:solidFill>
            <a:srgbClr val="F7F9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1117" y="1902420"/>
            <a:ext cx="30173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8F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1117" y="2199580"/>
            <a:ext cx="301736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Escenarios más largos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1117" y="2545011"/>
            <a:ext cx="3017368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544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Siete lecturas de pantalla es corto. El coste por lectura se multiplica: en cincuenta pasos la brecha crece de forma lineal.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3556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26A7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UNA FRASE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2734320"/>
            <a:ext cx="1046480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7F9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 menos 10×, hasta 20×, sea cual sea el modelo.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217640"/>
            <a:ext cx="98107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D0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Porque la ventaja no está en el prompt: está en cuánto obliga a transportar cada vuelta del bucle.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154440"/>
            <a:ext cx="362609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4A5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github.com/0sw2ld0/CuyScout · Oswaldo Leon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CuyScout: automatización iOS agent-first</dc:title>
  <dc:subject>PptxGenJS Presentation</dc:subject>
  <dc:creator>PptxGenJS</dc:creator>
  <cp:lastModifiedBy>PptxGenJS</cp:lastModifiedBy>
  <cp:revision>1</cp:revision>
  <dcterms:created xsi:type="dcterms:W3CDTF">2026-09-22T11:11:22Z</dcterms:created>
  <dcterms:modified xsi:type="dcterms:W3CDTF">2026-09-22T11:11:22Z</dcterms:modified>
</cp:coreProperties>
</file>